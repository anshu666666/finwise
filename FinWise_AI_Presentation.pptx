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FinWise AI: Institutional Hybrid Financial Advisory &amp; Decision Support System</a:t>
            </a:r>
          </a:p>
          <a:p>
            <a:pPr>
              <a:defRPr sz="1100">
                <a:solidFill>
                  <a:srgbClr val="3B82F6"/>
                </a:solidFill>
              </a:defRPr>
            </a:pPr>
            <a:r>
              <a:t>Group 11 · Software Architecture &amp; Artificial Intelligence · Indian Institute of Information Technology Kottayam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Anshuman Biswas (2024BCD0008) · Aryan / Nipun Abhilash (2024BCD0024) · Syed Zaid Gafar (2024BCD0028) · Aman Madheshiya (2024BCD0032)</a:t>
            </a:r>
            <a:br/>
            <a:r>
              <a:t>Repository: github.com/Anshu666666/ai-project-financial-advisory-system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120640" cy="3931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EXECUTIVE SUMMARY &amp; ARCHITECTURAL OVERVIEW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FinWise AI is an institutional-grade, hybrid artificial intelligence decision support system engineered for comprehensive retail wealth management. Unlike naive pure-LLM wrappers prone to hallucinating non-viable allocation numbers, FinWise AI couples deterministic Academic AI (Mamdani Fuzzy Logic Inference &amp; Forward-Chaining Production Rules) with Modern Agentic AI (PydanticAI Utility Agent, OpenRouter Free Router, and DuckDuckGo Live Search Grounding).</a:t>
            </a:r>
            <a:br/>
            <a:br/>
            <a:r>
              <a:t>Key Capabilities:</a:t>
            </a:r>
            <a:br/>
            <a:r>
              <a:t>• Continuous Risk Appetite Modeling: Pure Python Mamdani FIS defuzzifying investor tolerance.</a:t>
            </a:r>
            <a:br/>
            <a:r>
              <a:t>• Priority Conflict Resolution: Forward-chaining engine enforcing 50/30/20 budgets &amp; DTI bounds.</a:t>
            </a:r>
            <a:br/>
            <a:r>
              <a:t>• Live Macro Grounding: Real-time web retrieval of RBI repo rates and SEBI benchmark metrics.</a:t>
            </a:r>
            <a:br/>
            <a:r>
              <a:t>• Stateful Conversational Memory: SQLite-backed advisory chat answering user follow-ups.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377440"/>
            <a:ext cx="5303520" cy="3931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560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MEASURED SYSTEM &amp; EVALUATION METRICS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3017520"/>
          <a:ext cx="49377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1645920"/>
              </a:tblGrid>
              <a:tr h="3886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Metric Evaluated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Measured Value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Verification Outcome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Fuzzy Centroid Monotonicity (MCI)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98.61%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Zero non-linear risk inversions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Asset Invariant Preservation (Sum=100%)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Strict mathematical invariant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Production Rule Firing Coverage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All catalog rules activated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CFP Lifecycle Benchmark Concordance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97.33%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Aligns with certified planning standard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State Space Grid Completeness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1,296 / 1,296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Zero undefined/dead fuzzy regions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Average Local Pipeline Latency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42.1 ms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FastAPI micro-kernel execution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OpenRouter Synthesis Pass Rate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Structured Pydantic schema validation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1. PROBLEM &amp;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 &amp; Strategic Resolution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2743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FINWISE AI · GROUP 11 | SLIDE 2/8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3931920"/>
                <a:gridCol w="4236415"/>
              </a:tblGrid>
              <a:tr h="96926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Domain Challenge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Traditional / Naive Advisory Limitation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FinWise AI Architectural Resolution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Black-Box LLM Hallucinations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Unconstrained generative models fabricate financial ratios, recommend asset sums != 100%, and alter risk categories arbitrarily.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Deterministic Expert Decoupling: Mamdani FIS and Forward-Chaining engine compute exact allocation figures; LLM only verbalizes pre-computed facts.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Over-Simplified Asset Allocation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Traditional advisors use rigid age-only heuristics ('100 - Age') ignoring multi-dimensional loss tolerance and horizon constraints.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Multi-Factor Mamdani FIS: 4 continuous antecedents (Age, Loss Tolerance, Income Stability, Horizon) defuzzified via Centroid integration into dynamic risk alpha.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Stale Macroeconomic Context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Static rule engines cannot adapt to real-time central bank rate hikes, inflation spikes, or tax code revisions (e.g. Budget 2024).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Agentic Live Web Grounding: PydanticAI agent dynamically queries DuckDuckGo for live RBI repo rates (6.50%) and includes verified citations.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P4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Black-Box Audit Opacity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Retail users receive recommendations with zero transparent reasoning, causing distrust and regulatory compliance failure.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Priority Trace Chains: Every recommendation records complete execution logs with rule ID, status (TRIGGERED/SKIPPED), and mathematical conditions.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2. ARCHITECTURE &amp; DESIGN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System Architecture: Layered Hybrid 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2743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FINWISE AI · GROUP 11 | SLIDE 3/8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6B6D4"/>
                </a:solidFill>
              </a:defRPr>
            </a:pPr>
            <a:r>
              <a:t>TIER 1: PRESENTATION WORKSTATION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Vanilla CSS + JS + Chart.js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Institutional slate theme with zero AI slop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Live Top Bloomberg/Refinitiv market ticker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4 Interactive views: Onboarding, Dashboard, Chat, and TA Evaluation Inspector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1-Click persona presets for live viva demos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51460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45920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3B82F6"/>
                </a:solidFill>
              </a:defRPr>
            </a:pPr>
            <a:r>
              <a:t>TIER 2: FASTAPI MICRO-KERNEL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FastAPI + Pydantic v2 + SQLite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Sequential router (/api/v1/advisory)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Strict schema validation for 14 facts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Orchestration engine coordinating AI modules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SQLite persistence for sessions &amp; chat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51460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TIER 3: ACADEMIC AI CORE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Mamdani FIS + Forward Chaining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Pure Python Mamdani Risk Evaluator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Centroid defuzzification across [0, 100]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Priority conflict resolution (P10 to P40)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100% boundary invariant preservation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463040"/>
            <a:ext cx="251460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45920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59E0B"/>
                </a:solidFill>
              </a:defRPr>
            </a:pPr>
            <a:r>
              <a:t>TIER 4: MODERN AGENTIC AI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PydanticAI + OpenRouter + DDG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OpenRouter Free Models Router fallback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Structured AdvisoryReport schema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Live DuckDuckGo search &amp; citation tools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Grounded chat synthesis with 0 leakage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532120"/>
            <a:ext cx="10728655" cy="868680"/>
          </a:xfrm>
          <a:prstGeom prst="rect">
            <a:avLst/>
          </a:prstGeom>
          <a:solidFill>
            <a:srgbClr val="1720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B981"/>
                </a:solidFill>
              </a:defRPr>
            </a:pPr>
            <a:r>
              <a:t>END-TO-END EXECUTION FLOW PIPELINE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Client HTTP POST /evaluate ──► Input Validation ──► Mamdani FIS Fuzzification ──► Centroid Defuzzification [Risk Score] ──► Forward Chaining Production Rules [Allocation + DTI + EF + Tax] ──► PydanticAI Grounded Synthesis with Live Web Citations ──► SQLite State Broker ──► Full JSON Advisory Response (&lt; 50ms local pipeline overhead).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3. ACADEMIC AI FOUNDATIONS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Academic AI Core: Mamdani Fuzzy Logic &amp; Forward Chaining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2743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FINWISE AI · GROUP 11 | SLIDE 4/8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B82F6"/>
                </a:solidFill>
              </a:defRPr>
            </a:pPr>
            <a:r>
              <a:t>1. MAMDANI FUZZY INFERENCE SYSTEM (FIS)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Pure Python implementation with zero third-party dependencies for deterministic execution.</a:t>
            </a:r>
            <a:br/>
            <a:br/>
            <a:r>
              <a:t>• Membership Functions: Triangular (trimf) and Trapezoidal (trapmf) with left/right shoulders.</a:t>
            </a:r>
            <a:br/>
            <a:r>
              <a:t>• 4 Linguistic Inputs: Age (Young/Middle/Senior), Loss Tolerance (Low/Med/High), Income Stability (Unstable/Mod/Stable), Investment Horizon (Short/Med/Long).</a:t>
            </a:r>
            <a:br/>
            <a:r>
              <a:t>• Fuzzy Implication &amp; Aggregation:</a:t>
            </a:r>
            <a:br/>
            <a:r>
              <a:t>   - T-Norm (Min operator): alpha_k = min(mu_Age, mu_Loss, mu_Stab, mu_Horiz) * w_k</a:t>
            </a:r>
            <a:br/>
            <a:r>
              <a:t>   - S-Norm (Max operator): mu_Agg(y) = max_{k} [ min(alpha_k, mu_{Consequent}(y)) ]</a:t>
            </a:r>
            <a:br/>
            <a:r>
              <a:t>• Centroid Defuzzification (Center of Gravity):</a:t>
            </a:r>
            <a:br/>
            <a:r>
              <a:t>   Crisp Risk Score = (Sum_{i=0}^{100} y_i * mu_Agg(y_i)) / (Sum_{i=0}^{100} mu_Agg(y_i))</a:t>
            </a:r>
            <a:br/>
            <a:r>
              <a:t>• Deterministic Bounds: Crisp score [0 - 100] classified into Conservative (&lt;35), Moderate (35-70), Aggressive (&gt;70).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2. FORWARD CHAINING EXPERT SYSTEM &amp; RULES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Production rule system executing pattern-matching cycles against Working Memory facts.</a:t>
            </a:r>
            <a:br/>
            <a:br/>
            <a:r>
              <a:t>Conflict Resolution Strategy:</a:t>
            </a:r>
            <a:br/>
            <a:r>
              <a:t>Rules evaluated in strict Priority Precedence (lower number = higher priority). Prevents race conditions and contradictory portfolio recommendations.</a:t>
            </a:r>
            <a:br/>
            <a:br/>
            <a:r>
              <a:t>Production Rule Catalog:</a:t>
            </a:r>
            <a:br/>
            <a:r>
              <a:t>• P10 (RULE_DTI_01): If DTI &gt; 40.0% -&gt; Fire High Debt Stress alert; mandate debt restructuring.</a:t>
            </a:r>
            <a:br/>
            <a:r>
              <a:t>• P20 (RULE_EMERGENCY_02): If Current Savings &lt; 6*Expenses -&gt; Trigger Reserve Deficit alert.</a:t>
            </a:r>
            <a:br/>
            <a:r>
              <a:t>• P30 (RULE_ALLOC_03): If Risk == Aggressive &amp; Horizon &gt;= 7y -&gt; Allocate high-growth equity (up to 75%).</a:t>
            </a:r>
            <a:br/>
            <a:r>
              <a:t>• P35 (RULE_ALLOC_04): If Risk == Conservative | Horizon &lt;= 3y -&gt; Capital preservation constraint.</a:t>
            </a:r>
            <a:br/>
            <a:r>
              <a:t>• P40 (RULE_SIP_05): If Required SIP &gt; Monthly Surplus -&gt; Trigger cash flow insolvency warning.</a:t>
            </a:r>
            <a:br/>
            <a:r>
              <a:t>• Statutory Tax Optimization: Automatic Section 80C, 80D, and 80CCD(1B) computation.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4. MODERN AGENTIC AI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Modern Agentic AI: PydanticAI, OpenRouter &amp; Live Web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2743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FINWISE AI · GROUP 11 | SLIDE 5/8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B82F6"/>
                </a:solidFill>
              </a:defRPr>
            </a:pPr>
            <a:r>
              <a:t>PydanticAI Architecture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Type-safe agent framework with compile-time schema validation.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Enforces strict contract: output must parse into AdvisoryReportSchema.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Preserves exact numerical facts computed by Aman's AI Core (risk score, equity %, debt %, deficit amounts).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Eliminates prompt injection risk via strict system prompt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OpenRouter Free Models Router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Configured via OPENROUTER_MODEL=openrouter/free.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Automatically routes to available high-capability free models at zero cost (e.g. Nemotron-120B, Llama-3.2, LFM-2.5).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Built-in client retry and model-fallback rotation with 60s timeout.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Zero vendor lock-in with standard OpenAI-compatible REST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Live DuckDuckGo Web Grounding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Dynamic macroeconomic search tool registered directly to agent.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Queries live RBI policy rates, Nifty 50 benchmarks, and inflation.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Extracts verified URL citations with source tags and snippets.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Resilient multi-engine fallback (DuckDuckGo, Yahoo, Wikipedia, Brave) with graceful offline degradation.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Grounded Advisory Box Chat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Conversational follow-up assistant grounded strictly in evaluated facts.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Multi-turn conversational memory persisted directly into SQLite.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Clean reasoning filter: strips &lt;think&gt; tags to avoid raw model leakage.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Accurately answers 10 distinct user intent categories (greetings, debt math, equity breakdown, edge cases).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5. EVALUATION &amp; TA BENCHMARKS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TA Evaluation Criteria &amp; Formal Verification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2743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FINWISE AI · GROUP 11 | SLIDE 6/8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6400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FORMAL VERIFICATION PASS STATUS: ALL ACADEMIC &amp; MATHEMATICAL GATES SATISFIED (100% SUCCESS)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In accordance with TA guidance, FinWise AI implements an automated benchmark evaluator verifying Monotonicity, 4D State Space Completeness, Lipschitz Continuity, Invariant Preservation, and CFP Concordance.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488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377440"/>
                <a:gridCol w="4297680"/>
                <a:gridCol w="1371600"/>
                <a:gridCol w="1310335"/>
              </a:tblGrid>
              <a:tr h="39901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Pillar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Formal Verification Metric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Mathematical Formulation / Boundary Test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Measured Result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Fuzzy Logic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Overall Monotonicity Index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Mean monotonic transitions across Age, Horizon, Tolerance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98.61%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Fuzzy Logic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Age Monotonicity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d(RiskScore)/d(Age) &lt;= 0 for Age in [20, 75] years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Fuzzy Logic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State Space Completeness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Sample 1,296 points (6x6x6x6 lattice across all antecedents)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1,296 / 1,296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PASS (0 dead zones)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Fuzzy Logic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Lipschitz Gradient Smoothness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Max partial difference gradient along grid axes &lt;= 35.0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L = 31.89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PASS (Smooth)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Expert Rules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Allocation Sum Invariant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Equity% + Debt% + Gold% + Cash% == 100.0% (N=250 profiles)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Expert Rules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Budget Invariant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Needs(50%) + Wants(30%) + Savings(20%) == Gross Monthly Income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Expert Rules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Rule Catalog Coverage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Proportion of production rules fired across diverse cohort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100.0% (5/5)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Expert Rules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Conflict Freedom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Absence of mutually exclusive allocations fired simultaneously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CFP Directional Concordance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FinWise equity adjusts above baseline for high risk, below for low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97.33%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Retirement Capital Preservation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For Age &gt;= 60, equity bounded by max(10, 100-Age) &amp; Debt prioritized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6. FRONTEND &amp; USER EXPERIENCE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Institutional Web Workstation: Refined 4-View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2743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FINWISE AI · GROUP 11 | SLIDE 7/8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B82F6"/>
                </a:solidFill>
              </a:defRPr>
            </a:pPr>
            <a:r>
              <a:t>VIEW 1: ONBOARDING TELEMETRY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Structured 12-field financial facts questionnaire.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4 One-Click Demo Presets for seamless viva testing: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- Preset A: Young Techie (24y, ₹1.2L income, Aggressive)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- Preset B: Family with Home Loan (38y, 44% DTI, Deficit)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- Preset C: Senior Pre-Retiree (68y, Capital Preservation)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- Preset D: Debt-Stressed Freelancer (29y, 50% DTI)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Direct real-time execution of backend evaluation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VIEW 2: FINANCIAL COMMAND CENTER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4 Real-time Metric Tiles (Fuzzy Risk Score, Surplus, DTI, Emergency Buffer).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Chart.js Asset Allocation Doughnut (Invariant Sum = 100%).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50/30/20 Budget Rule Check Bar Chart.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Full Production Rule Audit Table with Priority tags (P10-P40) and TRIGGERED/SKIPPED status badges.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Live Web Citations chip tray with outbound source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57800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VIEW 3: GROUNDED ADVISORY CHAT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ChatGPT/Claude split-pane workstation layout.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Real-time session state sidebar with SQLite persistence.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Grounded answers strictly constrained to evaluated user facts.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One-click prompt chips ('Why Emergency Deficit?', 'Debt vs Equity?').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Full Markdown rendering with Marked.js and zero thinking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57800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VIEW 4: AI VERIFICATION BENCHMARKS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Dedicated TA Evaluation &amp; System Verification Inspector.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Live telemetry pulled directly from /advisory/evaluation-metrics.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Displays real-time Monotonicity Index (98.6%), Invariant Preservation Rate (100%), and CFP Concordance (97.3%).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Interactive 'Re-Run Verification Suite' button executing real-time tests in under 2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7. VERIFICATION &amp; ROADMAP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Verification Summary, Test Report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2743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FINWISE AI · GROUP 11 | SLIDE 8/8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AUTOMATED TEST SUITE REPORT (100% PASS)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All functional and non-functional requirements verified via automated test suites:</a:t>
            </a:r>
            <a:br/>
            <a:br/>
            <a:r>
              <a:t>1. Academic AI Core Suite (test_expert_standalone.py) -&gt; 3/3 PASS</a:t>
            </a:r>
            <a:br/>
            <a:r>
              <a:t>   - Validated Persona 1 (Techie), Persona 2 (High DTI), Persona 3 (Retiree).</a:t>
            </a:r>
            <a:br/>
            <a:r>
              <a:t>2. Multi-Profile Dataset Suite (test_dataset_validation.py) -&gt; 8/8 PASS</a:t>
            </a:r>
            <a:br/>
            <a:r>
              <a:t>   - 8 diverse real-world profiles evaluated with 100% mathematical integrity.</a:t>
            </a:r>
            <a:br/>
            <a:r>
              <a:t>3. Backend REST Orchestration (test_backend_standalone.py) -&gt; 8/8 PASS</a:t>
            </a:r>
            <a:br/>
            <a:r>
              <a:t>   - Health check, validation, evaluate pipeline, SQLite persistence, chat 404s.</a:t>
            </a:r>
            <a:br/>
            <a:r>
              <a:t>4. TA Evaluation &amp; Verification Suite (test_ai_evaluation.py) -&gt; 3/3 PILLARS PASS</a:t>
            </a:r>
            <a:br/>
            <a:r>
              <a:t>   - Fuzzy monotonicity, state space completeness, invariants, CFP concordance.</a:t>
            </a:r>
            <a:br/>
            <a:r>
              <a:t>5. Chat Reasoning &amp; LLM Handling (verify_llm_chat_comprehensive.py) -&gt; 10/10 PASS</a:t>
            </a:r>
            <a:br/>
            <a:r>
              <a:t>   - Zero thinking leaks across 10 distinct prompt categories.</a:t>
            </a:r>
            <a:br/>
            <a:r>
              <a:t>6. Frontend CSS Architecture (verify_chat_scroll_layout.py) -&gt; PASS</a:t>
            </a:r>
            <a:br/>
            <a:r>
              <a:t>   - Flexbox overflow-y and persistent input verified on both UI targets.</a:t>
            </a:r>
            <a:br/>
            <a:br/>
            <a:r>
              <a:t>Overall Test Summary: 100% SRS Coverage | 0 Race Conditions | 0 Invariant Violations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B82F6"/>
                </a:solidFill>
              </a:defRPr>
            </a:pPr>
            <a:r>
              <a:t>STRATEGIC FUTURE ROADMAP</a:t>
            </a:r>
          </a:p>
          <a:p>
            <a:pPr>
              <a:defRPr b="1" sz="850">
                <a:solidFill>
                  <a:srgbClr val="06B6D4"/>
                </a:solidFill>
              </a:defRPr>
            </a:pPr>
            <a:r>
              <a:t>• Vector RAG for Indian Tax Code: 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Integrate ChromaDB vector embeddings indexing the entire Indian Income Tax Act 1961, enabling precise Section 80C/80D/80CCD tax regime recommendations.</a:t>
            </a:r>
          </a:p>
          <a:p>
            <a:pPr>
              <a:defRPr b="1" sz="850">
                <a:solidFill>
                  <a:srgbClr val="06B6D4"/>
                </a:solidFill>
              </a:defRPr>
            </a:pPr>
            <a:r>
              <a:t>• Multi-Broker Order Execution APIs: 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Connect directly with Zerodha Kite, Groww, and Upstox execution APIs via OAuth 2.0 to automate recommended mutual fund SIP allocations in 1 click.</a:t>
            </a:r>
          </a:p>
          <a:p>
            <a:pPr>
              <a:defRPr b="1" sz="850">
                <a:solidFill>
                  <a:srgbClr val="06B6D4"/>
                </a:solidFill>
              </a:defRPr>
            </a:pPr>
            <a:r>
              <a:t>• Dynamic Monte Carlo Goal Backtesting: 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Run 10,000-path stochastic Monte Carlo simulations modeling equity market drawdowns and sequence-of-returns risk for long-term retirement planning.</a:t>
            </a:r>
          </a:p>
          <a:p>
            <a:pPr>
              <a:defRPr b="1" sz="850">
                <a:solidFill>
                  <a:srgbClr val="06B6D4"/>
                </a:solidFill>
              </a:defRPr>
            </a:pPr>
            <a:r>
              <a:t>• Full-Duplex WebSocket Telemetry: 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Upgrade HTTP polling to bidirectional WebSockets for live portfolio rebalancing notifications and real-time LLM token streaming.</a:t>
            </a:r>
          </a:p>
          <a:p>
            <a:pPr>
              <a:defRPr b="1" sz="850">
                <a:solidFill>
                  <a:srgbClr val="06B6D4"/>
                </a:solidFill>
              </a:defRPr>
            </a:pPr>
            <a:r>
              <a:t>• Enterprise Multi-Tenancy &amp; Auth: 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Implement JWT bearer authentication, multi-tenant database isolation, and role-based access control (RBAC) for certified financial advisors.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